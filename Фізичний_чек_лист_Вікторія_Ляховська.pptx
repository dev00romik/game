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0" y="914400"/>
            <a:ext cx="3047695" cy="457200"/>
          </a:xfrm>
          <a:prstGeom prst="round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C77D7D"/>
                </a:solidFill>
              </a:defRPr>
            </a:pPr>
            <a:r>
              <a:t>Проєкт із фізики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3D2C2A"/>
                </a:solidFill>
              </a:defRPr>
            </a:pPr>
            <a:r>
              <a:t>Фізичний чек-лист мого дня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C6E6E"/>
                </a:solidFill>
              </a:defRPr>
            </a:pPr>
            <a:r>
              <a:t>МКТ та термодинаміка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3108960"/>
            <a:ext cx="853135" cy="45720"/>
          </a:xfrm>
          <a:prstGeom prst="rect">
            <a:avLst/>
          </a:prstGeom>
          <a:solidFill>
            <a:srgbClr val="E8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C6E6E"/>
                </a:solidFill>
              </a:defRPr>
            </a:pPr>
            <a:r>
              <a:t>Підготувала: Вікторія Ляховська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931920"/>
            <a:ext cx="8534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8A8A"/>
                </a:solidFill>
              </a:defRPr>
            </a:pPr>
            <a:r>
              <a:t>Мій день — це суцільний рух молекул, фазові переходи, теплові процеси та робота внутрішньої енергії. Я просто навчилася їх помічати й пояснювати.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93776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A5E5E"/>
                </a:solidFill>
              </a:defRPr>
            </a:pPr>
            <a:r>
              <a:t>Сьогодні я прослідкую за кожним явищем, яке мене супроводжує: від запаху кави зранку до охолодження вечірнього чаю. У цьому проєкті — справжній фізичний щоденник звичайного шкільного дня.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11094415" cy="6126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2194560" cy="347472"/>
          </a:xfrm>
          <a:prstGeom prst="roundRect">
            <a:avLst/>
          </a:prstGeom>
          <a:solidFill>
            <a:srgbClr val="FEF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C07840"/>
                </a:solidFill>
              </a:defRPr>
            </a:pPr>
            <a:r>
              <a:t>🌅 Ранок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D2C2A"/>
                </a:solidFill>
              </a:defRPr>
            </a:pPr>
            <a:r>
              <a:rPr dirty="0" err="1"/>
              <a:t>Як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мене</a:t>
            </a:r>
            <a:r>
              <a:rPr dirty="0"/>
              <a:t> </a:t>
            </a:r>
            <a:r>
              <a:rPr dirty="0" err="1"/>
              <a:t>прийшов</a:t>
            </a:r>
            <a:r>
              <a:rPr dirty="0"/>
              <a:t> </a:t>
            </a:r>
            <a:r>
              <a:rPr dirty="0" err="1"/>
              <a:t>запах</a:t>
            </a:r>
            <a:r>
              <a:rPr dirty="0"/>
              <a:t> </a:t>
            </a:r>
            <a:r>
              <a:rPr dirty="0" err="1"/>
              <a:t>кави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5029200" cy="347472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F5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B86565"/>
                </a:solidFill>
              </a:defRPr>
            </a:pPr>
            <a:r>
              <a:t>⚡ Дифузія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180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t>Я прокинулась і ще лежу в ліжку, але вже чую, як мама порається на кухні. Разом зі звуками до моєї кімнати долинає теплий, глибокий аромат свіжозвареної кави.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90672"/>
            <a:ext cx="101800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C3D3D"/>
                </a:solidFill>
              </a:defRPr>
            </a:pPr>
            <a:r>
              <a:rPr dirty="0"/>
              <a:t>🔬 </a:t>
            </a:r>
            <a:r>
              <a:rPr dirty="0" err="1"/>
              <a:t>Пояснення</a:t>
            </a:r>
            <a:r>
              <a:rPr dirty="0"/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64992"/>
            <a:ext cx="10180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t>Кава містить сотні летких ароматичних речовин (ефірні олії, альдегіди, піразини), які легко випаровуються з гарячої поверхні. У газоподібному стані ці молекули рухаються хаотично з величезними швидкостями — сотні метрів за секунду. Вони стикаються з молекулами азоту та кисню й поступово проникають у простір між ними.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95344"/>
            <a:ext cx="10180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t>Рушійна сила дифузії — різниця концентрацій. На кухні концентрація висока, у спальні — майже нульова. Згідно із законом Фіка, потік речовини пропорційний градієнту концентрації. Швидкість дифузії зростає з температурою, адже Ek = (3/2)kT, тому гаряча кава «пахне» набагато інтенсивніше.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416552"/>
            <a:ext cx="10180015" cy="384048"/>
          </a:xfrm>
          <a:prstGeom prst="roundRect">
            <a:avLst/>
          </a:prstGeom>
          <a:solidFill>
            <a:srgbClr val="FDF6F0"/>
          </a:solidFill>
          <a:ln w="25400">
            <a:solidFill>
              <a:srgbClr val="D4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7A4A4A"/>
                </a:solidFill>
                <a:latin typeface="Consolas"/>
              </a:defRPr>
            </a:pPr>
            <a:r>
              <a:rPr dirty="0"/>
              <a:t>Ek = (3/2)</a:t>
            </a:r>
            <a:r>
              <a:rPr dirty="0" err="1"/>
              <a:t>kT</a:t>
            </a:r>
            <a:r>
              <a:rPr dirty="0"/>
              <a:t>  |  k = 1,38×10⁻²³ </a:t>
            </a:r>
            <a:r>
              <a:rPr dirty="0" err="1"/>
              <a:t>Дж</a:t>
            </a:r>
            <a:r>
              <a:rPr dirty="0"/>
              <a:t>/К  |  T ≈ 373 K → Ek ≈ 7,7×10⁻²¹ </a:t>
            </a:r>
            <a:r>
              <a:rPr dirty="0" err="1"/>
              <a:t>Дж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11094415" cy="6126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2194560" cy="347472"/>
          </a:xfrm>
          <a:prstGeom prst="roundRect">
            <a:avLst/>
          </a:prstGeom>
          <a:solidFill>
            <a:srgbClr val="FEF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C07840"/>
                </a:solidFill>
              </a:defRPr>
            </a:pPr>
            <a:r>
              <a:t>🌅 Ранок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D2C2A"/>
                </a:solidFill>
              </a:defRPr>
            </a:pPr>
            <a:r>
              <a:t>Коли я бризкаю улюбленими парфумами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5029200" cy="347472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F5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B86565"/>
                </a:solidFill>
              </a:defRPr>
            </a:pPr>
            <a:r>
              <a:t>⚡ Випаровування, охолодження під час випаровування, дифузія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180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t>Перед виходом до школи я роблю один пшик на запʼясток — шкіра стає вологою та приємно прохолодною, а за мить кімната наповнюється квітковим шлейфом.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72384"/>
            <a:ext cx="101800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C3D3D"/>
                </a:solidFill>
              </a:defRPr>
            </a:pPr>
            <a:r>
              <a:rPr dirty="0"/>
              <a:t>🔬 </a:t>
            </a:r>
            <a:r>
              <a:rPr dirty="0" err="1"/>
              <a:t>Пояснення</a:t>
            </a:r>
            <a:r>
              <a:rPr dirty="0"/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64992"/>
            <a:ext cx="10180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t>Туалетна вода — це суміш летких ароматичних речовин у етиловому спирті. Спирт дуже швидко випаровується. Щоб випаруватися, молекули спирту повинні подолати сили міжмолекулярного притягання (водневі звʼязки та ван-дер-ваальсові сили). Це можуть зробити лише найшвидші молекули, які мають кінетичну енергію, більшу за роботу виходу. Покидаючи рідину, вони забирають енергію з собою — середня кінетична енергія молекул, що залишилися, зменшується, температура знижується, і я відчуваю прохолоду.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001768"/>
            <a:ext cx="10180015" cy="384048"/>
          </a:xfrm>
          <a:prstGeom prst="roundRect">
            <a:avLst/>
          </a:prstGeom>
          <a:solidFill>
            <a:srgbClr val="FDF6F0"/>
          </a:solidFill>
          <a:ln w="25400">
            <a:solidFill>
              <a:srgbClr val="D4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7A4A4A"/>
                </a:solidFill>
                <a:latin typeface="Consolas"/>
              </a:defRPr>
            </a:pPr>
            <a:r>
              <a:rPr dirty="0"/>
              <a:t>Q = </a:t>
            </a:r>
            <a:r>
              <a:rPr dirty="0" err="1"/>
              <a:t>L·m</a:t>
            </a:r>
            <a:r>
              <a:rPr dirty="0"/>
              <a:t>  |  L (</a:t>
            </a:r>
            <a:r>
              <a:rPr dirty="0" err="1"/>
              <a:t>спирт</a:t>
            </a:r>
            <a:r>
              <a:rPr dirty="0"/>
              <a:t>) ≈ 840 </a:t>
            </a:r>
            <a:r>
              <a:rPr dirty="0" err="1"/>
              <a:t>кДж</a:t>
            </a:r>
            <a:r>
              <a:rPr dirty="0"/>
              <a:t>/</a:t>
            </a:r>
            <a:r>
              <a:rPr dirty="0" err="1"/>
              <a:t>кг</a:t>
            </a:r>
            <a:r>
              <a:rPr dirty="0"/>
              <a:t>  |  </a:t>
            </a:r>
            <a:r>
              <a:rPr dirty="0" err="1"/>
              <a:t>адіабатичне</a:t>
            </a:r>
            <a:r>
              <a:rPr dirty="0"/>
              <a:t> </a:t>
            </a:r>
            <a:r>
              <a:rPr dirty="0" err="1"/>
              <a:t>випаровування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914400" y="4352544"/>
            <a:ext cx="10180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t>💡 Парфуми наносять на точки пульсу (запʼястя, шия, за вухами) — там шкіра тепліша через близькість судин, випаровування інтенсивніше, і аромат розкривається яскравіше.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81728"/>
            <a:ext cx="10180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t>А далі молекули аромату дифундують у повітрі, поширюючись далеко за межі запʼястка — і ось уже в передпокої чути квітковий шлейф.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11094415" cy="6126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2194560" cy="347472"/>
          </a:xfrm>
          <a:prstGeom prst="roundRect">
            <a:avLst/>
          </a:prstGeom>
          <a:solidFill>
            <a:srgbClr val="FEF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C07840"/>
                </a:solidFill>
              </a:defRPr>
            </a:pPr>
            <a:r>
              <a:t>🌅 Ранок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D2C2A"/>
                </a:solidFill>
              </a:defRPr>
            </a:pPr>
            <a:r>
              <a:rPr dirty="0"/>
              <a:t>Прасування </a:t>
            </a:r>
            <a:r>
              <a:rPr dirty="0" err="1"/>
              <a:t>шкільної</a:t>
            </a:r>
            <a:r>
              <a:rPr dirty="0"/>
              <a:t> </a:t>
            </a:r>
            <a:r>
              <a:rPr dirty="0" err="1"/>
              <a:t>блузки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5029200" cy="347472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F5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B86565"/>
                </a:solidFill>
              </a:defRPr>
            </a:pPr>
            <a:r>
              <a:t>⚡ Теплопровідність, пароутворення, конденсація, фазовий перехід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180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t>Я вмикаю праску, чекаю, поки нагріється, і веду по зімʼятій тканині. За кілька секунд блузка стає ідеально рівною, а від тканини йде легка пара.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80944"/>
            <a:ext cx="101800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C3D3D"/>
                </a:solidFill>
              </a:defRPr>
            </a:pPr>
            <a:r>
              <a:t>🔬 Пояснення: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64992"/>
            <a:ext cx="10180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t>Металева підошва нагрівається завдяки електричному струму. Метали мають високу теплопровідність завдяки вільним електронам: коефіцієнт теплопровідності алюмінію ≈ 200 Вт/(м·К). Внутрішня енергія металу зростає, коливання іонів кристалічної ґратки посилюються.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94176"/>
            <a:ext cx="10180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t>Коли гаряча підошва торкається вологої тканини, вода поглинає енергію. Коли її стає достатньо для подолання міжмолекулярних звʼязків, вода перетворюється на пару. Питома теплота пароутворення води — 2260 кДж/кг. Пара розширюється, її тиск розпрямляє волокна тканини. Виходячи назовні й контактуючи з холоднішим повітрям, пара конденсується — я бачу легкий білий туман. Це замкнений цикл фазових переходів.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416552"/>
            <a:ext cx="10180015" cy="384048"/>
          </a:xfrm>
          <a:prstGeom prst="roundRect">
            <a:avLst/>
          </a:prstGeom>
          <a:solidFill>
            <a:srgbClr val="FDF6F0"/>
          </a:solidFill>
          <a:ln w="25400">
            <a:solidFill>
              <a:srgbClr val="D4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7A4A4A"/>
                </a:solidFill>
                <a:latin typeface="Consolas"/>
              </a:defRPr>
            </a:pPr>
            <a:r>
              <a:t>Закон Фур'є: Q/Δt = −k·A·(ΔT/Δx)  |  k (алюміній) ≈ 200 Вт/(м·К)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11094415" cy="6126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2194560" cy="347472"/>
          </a:xfrm>
          <a:prstGeom prst="roundRect">
            <a:avLst/>
          </a:prstGeom>
          <a:solidFill>
            <a:srgbClr val="FEF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C07840"/>
                </a:solidFill>
              </a:defRPr>
            </a:pPr>
            <a:r>
              <a:t>🌅 Ранок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D2C2A"/>
                </a:solidFill>
              </a:defRPr>
            </a:pPr>
            <a:r>
              <a:t>Чайна ложка обпікає пальці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5029200" cy="347472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F5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B86565"/>
                </a:solidFill>
              </a:defRPr>
            </a:pPr>
            <a:r>
              <a:t>⚡ Теплопровідність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180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t>Я наливаю окріп у горнятко, кидаю цукор і починаю розмішувати. Уже за кілька секунд металева ложка стає гарячою — доводиться швидко витягти її.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80944"/>
            <a:ext cx="101800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C3D3D"/>
                </a:solidFill>
              </a:defRPr>
            </a:pPr>
            <a:r>
              <a:t>🔬 Пояснення: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64992"/>
            <a:ext cx="10180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t>Гаряча вода (≈100 °C) має велику внутрішню енергію: молекули рухаються дуже швидко. Коли ложка занурена, молекули води стикаються з іонами кристалічної ґратки металу й передають їм кінетичну енергію. У металах є вільні електрони, які дуже швидко поширюють отриману енергію по всьому обʼєму — саме тому метали є чудовими провідниками тепла.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39" y="4553713"/>
            <a:ext cx="10180015" cy="384048"/>
          </a:xfrm>
          <a:prstGeom prst="roundRect">
            <a:avLst/>
          </a:prstGeom>
          <a:solidFill>
            <a:srgbClr val="FDF6F0"/>
          </a:solidFill>
          <a:ln w="25400">
            <a:solidFill>
              <a:srgbClr val="D4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7A4A4A"/>
                </a:solidFill>
                <a:latin typeface="Consolas"/>
              </a:defRPr>
            </a:pPr>
            <a:r>
              <a:rPr dirty="0"/>
              <a:t>k (</a:t>
            </a:r>
            <a:r>
              <a:rPr dirty="0" err="1"/>
              <a:t>сталь</a:t>
            </a:r>
            <a:r>
              <a:rPr dirty="0"/>
              <a:t>) ≈ 50 </a:t>
            </a:r>
            <a:r>
              <a:rPr dirty="0" err="1"/>
              <a:t>Вт</a:t>
            </a:r>
            <a:r>
              <a:rPr dirty="0"/>
              <a:t>/(</a:t>
            </a:r>
            <a:r>
              <a:rPr dirty="0" err="1"/>
              <a:t>м·К</a:t>
            </a:r>
            <a:r>
              <a:rPr dirty="0"/>
              <a:t>)  |  </a:t>
            </a:r>
            <a:r>
              <a:rPr dirty="0" err="1"/>
              <a:t>набагато</a:t>
            </a:r>
            <a:r>
              <a:rPr dirty="0"/>
              <a:t> </a:t>
            </a:r>
            <a:r>
              <a:rPr dirty="0" err="1"/>
              <a:t>більше</a:t>
            </a:r>
            <a:r>
              <a:rPr dirty="0"/>
              <a:t>, </a:t>
            </a:r>
            <a:r>
              <a:rPr dirty="0" err="1"/>
              <a:t>ніж</a:t>
            </a:r>
            <a:r>
              <a:rPr dirty="0"/>
              <a:t> у </a:t>
            </a:r>
            <a:r>
              <a:rPr dirty="0" err="1"/>
              <a:t>дерева</a:t>
            </a:r>
            <a:r>
              <a:rPr dirty="0"/>
              <a:t> (~0,15) </a:t>
            </a:r>
            <a:r>
              <a:rPr dirty="0" err="1"/>
              <a:t>чи</a:t>
            </a:r>
            <a:r>
              <a:rPr dirty="0"/>
              <a:t> </a:t>
            </a:r>
            <a:r>
              <a:rPr dirty="0" err="1"/>
              <a:t>пластику</a:t>
            </a:r>
            <a:r>
              <a:rPr dirty="0"/>
              <a:t> (~0,2)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86784"/>
            <a:ext cx="10180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rPr dirty="0"/>
              <a:t>Теплообмін </a:t>
            </a:r>
            <a:r>
              <a:rPr dirty="0" err="1"/>
              <a:t>триватиме</a:t>
            </a:r>
            <a:r>
              <a:rPr dirty="0"/>
              <a:t>, </a:t>
            </a:r>
            <a:r>
              <a:rPr dirty="0" err="1"/>
              <a:t>поки</a:t>
            </a:r>
            <a:r>
              <a:rPr dirty="0"/>
              <a:t> </a:t>
            </a:r>
            <a:r>
              <a:rPr dirty="0" err="1"/>
              <a:t>температура</a:t>
            </a:r>
            <a:r>
              <a:rPr dirty="0"/>
              <a:t> </a:t>
            </a:r>
            <a:r>
              <a:rPr dirty="0" err="1"/>
              <a:t>води</a:t>
            </a:r>
            <a:r>
              <a:rPr dirty="0"/>
              <a:t> й </a:t>
            </a:r>
            <a:r>
              <a:rPr dirty="0" err="1"/>
              <a:t>ложки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вирівняється</a:t>
            </a:r>
            <a:r>
              <a:rPr dirty="0"/>
              <a:t> — </a:t>
            </a:r>
            <a:r>
              <a:rPr dirty="0" err="1"/>
              <a:t>тоді</a:t>
            </a:r>
            <a:r>
              <a:rPr dirty="0"/>
              <a:t> </a:t>
            </a:r>
            <a:r>
              <a:rPr dirty="0" err="1"/>
              <a:t>настане</a:t>
            </a:r>
            <a:r>
              <a:rPr dirty="0"/>
              <a:t> </a:t>
            </a:r>
            <a:r>
              <a:rPr dirty="0" err="1"/>
              <a:t>теплова</a:t>
            </a:r>
            <a:r>
              <a:rPr dirty="0"/>
              <a:t> </a:t>
            </a:r>
            <a:r>
              <a:rPr dirty="0" err="1"/>
              <a:t>рівновага</a:t>
            </a:r>
            <a:r>
              <a:rPr dirty="0"/>
              <a:t>. Мої </a:t>
            </a:r>
            <a:r>
              <a:rPr dirty="0" err="1"/>
              <a:t>пальці</a:t>
            </a:r>
            <a:r>
              <a:rPr dirty="0"/>
              <a:t>, </a:t>
            </a:r>
            <a:r>
              <a:rPr dirty="0" err="1"/>
              <a:t>торкаючись</a:t>
            </a:r>
            <a:r>
              <a:rPr dirty="0"/>
              <a:t> </a:t>
            </a:r>
            <a:r>
              <a:rPr dirty="0" err="1"/>
              <a:t>гарячого</a:t>
            </a:r>
            <a:r>
              <a:rPr dirty="0"/>
              <a:t> </a:t>
            </a:r>
            <a:r>
              <a:rPr dirty="0" err="1"/>
              <a:t>металу</a:t>
            </a:r>
            <a:r>
              <a:rPr dirty="0"/>
              <a:t>, </a:t>
            </a:r>
            <a:r>
              <a:rPr dirty="0" err="1"/>
              <a:t>отримують</a:t>
            </a:r>
            <a:r>
              <a:rPr dirty="0"/>
              <a:t> </a:t>
            </a:r>
            <a:r>
              <a:rPr dirty="0" err="1"/>
              <a:t>тепло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ту</a:t>
            </a:r>
            <a:r>
              <a:rPr dirty="0"/>
              <a:t> </a:t>
            </a:r>
            <a:r>
              <a:rPr dirty="0" err="1"/>
              <a:t>саму</a:t>
            </a:r>
            <a:r>
              <a:rPr dirty="0"/>
              <a:t> </a:t>
            </a:r>
            <a:r>
              <a:rPr dirty="0" err="1"/>
              <a:t>теплопровідність</a:t>
            </a:r>
            <a:r>
              <a:rPr dirty="0"/>
              <a:t> — </a:t>
            </a:r>
            <a:r>
              <a:rPr dirty="0" err="1"/>
              <a:t>терморецептори</a:t>
            </a:r>
            <a:r>
              <a:rPr dirty="0"/>
              <a:t> </a:t>
            </a:r>
            <a:r>
              <a:rPr dirty="0" err="1"/>
              <a:t>шкіри</a:t>
            </a:r>
            <a:r>
              <a:rPr dirty="0"/>
              <a:t> </a:t>
            </a:r>
            <a:r>
              <a:rPr dirty="0" err="1"/>
              <a:t>реагують</a:t>
            </a:r>
            <a:r>
              <a:rPr dirty="0"/>
              <a:t> і </a:t>
            </a:r>
            <a:r>
              <a:rPr dirty="0" err="1"/>
              <a:t>посилають</a:t>
            </a:r>
            <a:r>
              <a:rPr dirty="0"/>
              <a:t> </a:t>
            </a:r>
            <a:r>
              <a:rPr dirty="0" err="1"/>
              <a:t>сигнал</a:t>
            </a:r>
            <a:r>
              <a:rPr dirty="0"/>
              <a:t> у </a:t>
            </a:r>
            <a:r>
              <a:rPr dirty="0" err="1"/>
              <a:t>мозок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11094415" cy="6126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2194560" cy="347472"/>
          </a:xfrm>
          <a:prstGeom prst="roundRect">
            <a:avLst/>
          </a:prstGeom>
          <a:solidFill>
            <a:srgbClr val="FE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B08A50"/>
                </a:solidFill>
              </a:defRPr>
            </a:pPr>
            <a:r>
              <a:t>☀️ День у школі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D2C2A"/>
                </a:solidFill>
              </a:defRPr>
            </a:pPr>
            <a:r>
              <a:t>Після фізкультури: холодок у коридорі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5029200" cy="347472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F5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B86565"/>
                </a:solidFill>
              </a:defRPr>
            </a:pPr>
            <a:r>
              <a:t>⚡ Випаровування з поглинанням тепла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1800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rPr dirty="0" err="1"/>
              <a:t>Ми</a:t>
            </a:r>
            <a:r>
              <a:rPr dirty="0"/>
              <a:t> </a:t>
            </a:r>
            <a:r>
              <a:rPr lang="ru-RU" dirty="0"/>
              <a:t>займались на уроці і</a:t>
            </a:r>
            <a:r>
              <a:rPr dirty="0"/>
              <a:t> </a:t>
            </a:r>
            <a:r>
              <a:rPr dirty="0" err="1"/>
              <a:t>футболка</a:t>
            </a:r>
            <a:r>
              <a:rPr dirty="0"/>
              <a:t> </a:t>
            </a:r>
            <a:r>
              <a:rPr dirty="0" err="1"/>
              <a:t>намокла</a:t>
            </a:r>
            <a:r>
              <a:rPr dirty="0"/>
              <a:t> </a:t>
            </a:r>
            <a:r>
              <a:rPr dirty="0" err="1"/>
              <a:t>від</a:t>
            </a:r>
            <a:r>
              <a:rPr dirty="0"/>
              <a:t> </a:t>
            </a:r>
            <a:r>
              <a:rPr dirty="0" err="1"/>
              <a:t>поту</a:t>
            </a:r>
            <a:r>
              <a:rPr dirty="0"/>
              <a:t>. </a:t>
            </a:r>
            <a:r>
              <a:rPr dirty="0" err="1"/>
              <a:t>Коли</a:t>
            </a:r>
            <a:r>
              <a:rPr dirty="0"/>
              <a:t> я </a:t>
            </a:r>
            <a:r>
              <a:rPr dirty="0" err="1"/>
              <a:t>вийшла</a:t>
            </a:r>
            <a:r>
              <a:rPr dirty="0"/>
              <a:t> в </a:t>
            </a:r>
            <a:r>
              <a:rPr dirty="0" err="1"/>
              <a:t>коридор</a:t>
            </a:r>
            <a:r>
              <a:rPr dirty="0"/>
              <a:t>, </a:t>
            </a:r>
            <a:r>
              <a:rPr dirty="0" err="1"/>
              <a:t>мене</a:t>
            </a:r>
            <a:r>
              <a:rPr dirty="0"/>
              <a:t> </a:t>
            </a:r>
            <a:r>
              <a:rPr dirty="0" err="1"/>
              <a:t>одразу</a:t>
            </a:r>
            <a:r>
              <a:rPr dirty="0"/>
              <a:t> </a:t>
            </a:r>
            <a:r>
              <a:rPr dirty="0" err="1"/>
              <a:t>пройняв</a:t>
            </a:r>
            <a:r>
              <a:rPr dirty="0"/>
              <a:t> </a:t>
            </a:r>
            <a:r>
              <a:rPr dirty="0" err="1"/>
              <a:t>холодок</a:t>
            </a:r>
            <a:r>
              <a:rPr dirty="0"/>
              <a:t> — </a:t>
            </a:r>
            <a:r>
              <a:rPr dirty="0" err="1"/>
              <a:t>стало</a:t>
            </a:r>
            <a:r>
              <a:rPr dirty="0"/>
              <a:t> </a:t>
            </a:r>
            <a:r>
              <a:rPr dirty="0" err="1"/>
              <a:t>навіть</a:t>
            </a:r>
            <a:r>
              <a:rPr dirty="0"/>
              <a:t> </a:t>
            </a:r>
            <a:r>
              <a:rPr dirty="0" err="1"/>
              <a:t>мерзлякувато</a:t>
            </a:r>
            <a:r>
              <a:rPr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80944"/>
            <a:ext cx="101800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C3D3D"/>
                </a:solidFill>
              </a:defRPr>
            </a:pPr>
            <a:r>
              <a:t>🔬 Пояснення: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64992"/>
            <a:ext cx="10180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t>Піт на 99% — це вода. Вона починає випаровуватися. Щоб покинути рідину, молекула повинна подолати водневі звʼязки, а це потребує енергії. Питома теплота пароутворення води при 37 °C ≈ 2400 кДж/кг. Для випаровування лише 1 грама поту потрібно ≈2400 Дж — цю енергію молекули забирають зі шкіри. Шкіра охолоджується, кров у капілярах охолоджується — я відчуваю прохолоду.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95344"/>
            <a:ext cx="10180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t>💡 На протязі в коридорі випаровування пришвидшується: потік повітря забирає молекули пари від шкіри, запобігаючи насиченню. Це вимушена конвекція. При високій вологості випаровування сповільнюється — тому в спеку з високою вологістю нам важче.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416552"/>
            <a:ext cx="10180015" cy="384048"/>
          </a:xfrm>
          <a:prstGeom prst="roundRect">
            <a:avLst/>
          </a:prstGeom>
          <a:solidFill>
            <a:srgbClr val="FDF6F0"/>
          </a:solidFill>
          <a:ln w="25400">
            <a:solidFill>
              <a:srgbClr val="D4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7A4A4A"/>
                </a:solidFill>
                <a:latin typeface="Consolas"/>
              </a:defRPr>
            </a:pPr>
            <a:r>
              <a:t>Це природний механізм терморегуляції тіла!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11094415" cy="6126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2194560" cy="347472"/>
          </a:xfrm>
          <a:prstGeom prst="roundRect">
            <a:avLst/>
          </a:prstGeom>
          <a:solidFill>
            <a:srgbClr val="FE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B08A50"/>
                </a:solidFill>
              </a:defRPr>
            </a:pPr>
            <a:r>
              <a:t>☀️ День у школі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D2C2A"/>
                </a:solidFill>
              </a:defRPr>
            </a:pPr>
            <a:r>
              <a:t>Пил у сонячному промені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5029200" cy="347472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F5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B86565"/>
                </a:solidFill>
              </a:defRPr>
            </a:pPr>
            <a:r>
              <a:t>⚡ Броунівський рух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180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t>Сонце пробивається крізь вікно, і в золотому промені я бачу, як танцюють дрібні порошинки. Вони не падають униз, а хаотично ворушаться, ніби живі.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80944"/>
            <a:ext cx="101800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C3D3D"/>
                </a:solidFill>
              </a:defRPr>
            </a:pPr>
            <a:r>
              <a:t>🔬 Пояснення: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64992"/>
            <a:ext cx="10180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t>Броунівський рух — безперервний хаотичний рух дрібних частинок, завислих у газі чи рідині, спричинений ударами молекул середовища. Молекули азоту та кисню рухаються зі швидкостями ≈500 м/с (при 20 °C) і безперервно стикаються з порошинкою. Кількість ударів із різних боків у кожен момент різна — виникають флуктуації тиску, і частинка отримує випадкові поштовхи.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39" y="4553713"/>
            <a:ext cx="10180015" cy="384048"/>
          </a:xfrm>
          <a:prstGeom prst="roundRect">
            <a:avLst/>
          </a:prstGeom>
          <a:solidFill>
            <a:srgbClr val="FDF6F0"/>
          </a:solidFill>
          <a:ln w="25400">
            <a:solidFill>
              <a:srgbClr val="D4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7A4A4A"/>
                </a:solidFill>
                <a:latin typeface="Consolas"/>
              </a:defRPr>
            </a:pPr>
            <a:r>
              <a:rPr dirty="0"/>
              <a:t>⟨x²⟩ = 2Dt  |  D — </a:t>
            </a:r>
            <a:r>
              <a:rPr dirty="0" err="1"/>
              <a:t>коефіцієнт</a:t>
            </a:r>
            <a:r>
              <a:rPr dirty="0"/>
              <a:t> </a:t>
            </a:r>
            <a:r>
              <a:rPr dirty="0" err="1"/>
              <a:t>дифузії</a:t>
            </a:r>
            <a:r>
              <a:rPr dirty="0"/>
              <a:t> (</a:t>
            </a:r>
            <a:r>
              <a:rPr dirty="0" err="1"/>
              <a:t>залежить</a:t>
            </a:r>
            <a:r>
              <a:rPr dirty="0"/>
              <a:t> </a:t>
            </a:r>
            <a:r>
              <a:rPr dirty="0" err="1"/>
              <a:t>від</a:t>
            </a:r>
            <a:r>
              <a:rPr dirty="0"/>
              <a:t> T, </a:t>
            </a:r>
            <a:r>
              <a:rPr dirty="0" err="1"/>
              <a:t>вʼязкості</a:t>
            </a:r>
            <a:r>
              <a:rPr dirty="0"/>
              <a:t>, </a:t>
            </a:r>
            <a:r>
              <a:rPr dirty="0" err="1"/>
              <a:t>розміру</a:t>
            </a:r>
            <a:r>
              <a:rPr dirty="0"/>
              <a:t> </a:t>
            </a:r>
            <a:r>
              <a:rPr dirty="0" err="1"/>
              <a:t>частинки</a:t>
            </a:r>
            <a:r>
              <a:rPr dirty="0"/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29456"/>
            <a:ext cx="10180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rPr dirty="0"/>
              <a:t>📜 Відкритий Робертом Броуном у 1827 р. У 1905 р. Альберт Ейнштейн </a:t>
            </a:r>
            <a:r>
              <a:rPr dirty="0" err="1"/>
              <a:t>розробив</a:t>
            </a:r>
            <a:r>
              <a:rPr dirty="0"/>
              <a:t> </a:t>
            </a:r>
            <a:r>
              <a:rPr dirty="0" err="1"/>
              <a:t>математичну</a:t>
            </a:r>
            <a:r>
              <a:rPr dirty="0"/>
              <a:t> </a:t>
            </a:r>
            <a:r>
              <a:rPr dirty="0" err="1"/>
              <a:t>теорію</a:t>
            </a:r>
            <a:r>
              <a:rPr dirty="0"/>
              <a:t> — </a:t>
            </a:r>
            <a:r>
              <a:rPr dirty="0" err="1"/>
              <a:t>це</a:t>
            </a:r>
            <a:r>
              <a:rPr dirty="0"/>
              <a:t> </a:t>
            </a:r>
            <a:r>
              <a:rPr dirty="0" err="1"/>
              <a:t>стало</a:t>
            </a:r>
            <a:r>
              <a:rPr dirty="0"/>
              <a:t> </a:t>
            </a:r>
            <a:r>
              <a:rPr dirty="0" err="1"/>
              <a:t>вагомим</a:t>
            </a:r>
            <a:r>
              <a:rPr dirty="0"/>
              <a:t> </a:t>
            </a:r>
            <a:r>
              <a:rPr dirty="0" err="1"/>
              <a:t>доказом</a:t>
            </a:r>
            <a:r>
              <a:rPr dirty="0"/>
              <a:t> </a:t>
            </a:r>
            <a:r>
              <a:rPr dirty="0" err="1"/>
              <a:t>існування</a:t>
            </a:r>
            <a:r>
              <a:rPr dirty="0"/>
              <a:t> </a:t>
            </a:r>
            <a:r>
              <a:rPr dirty="0" err="1"/>
              <a:t>атомів</a:t>
            </a:r>
            <a:r>
              <a:rPr dirty="0"/>
              <a:t> і </a:t>
            </a:r>
            <a:r>
              <a:rPr dirty="0" err="1"/>
              <a:t>молекул</a:t>
            </a:r>
            <a:r>
              <a:rPr dirty="0"/>
              <a:t>. </a:t>
            </a:r>
            <a:r>
              <a:rPr dirty="0" err="1"/>
              <a:t>Дивлячись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танцюючий</a:t>
            </a:r>
            <a:r>
              <a:rPr dirty="0"/>
              <a:t> </a:t>
            </a:r>
            <a:r>
              <a:rPr dirty="0" err="1"/>
              <a:t>пил</a:t>
            </a:r>
            <a:r>
              <a:rPr dirty="0"/>
              <a:t>, я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власні</a:t>
            </a:r>
            <a:r>
              <a:rPr dirty="0"/>
              <a:t> </a:t>
            </a:r>
            <a:r>
              <a:rPr dirty="0" err="1"/>
              <a:t>очі</a:t>
            </a:r>
            <a:r>
              <a:rPr dirty="0"/>
              <a:t> </a:t>
            </a:r>
            <a:r>
              <a:rPr dirty="0" err="1"/>
              <a:t>бачу</a:t>
            </a:r>
            <a:r>
              <a:rPr dirty="0"/>
              <a:t> </a:t>
            </a:r>
            <a:r>
              <a:rPr dirty="0" err="1"/>
              <a:t>наслідок</a:t>
            </a:r>
            <a:r>
              <a:rPr dirty="0"/>
              <a:t> </a:t>
            </a:r>
            <a:r>
              <a:rPr dirty="0" err="1"/>
              <a:t>теплового</a:t>
            </a:r>
            <a:r>
              <a:rPr dirty="0"/>
              <a:t> </a:t>
            </a:r>
            <a:r>
              <a:rPr dirty="0" err="1"/>
              <a:t>руху</a:t>
            </a:r>
            <a:r>
              <a:rPr dirty="0"/>
              <a:t> </a:t>
            </a:r>
            <a:r>
              <a:rPr dirty="0" err="1"/>
              <a:t>молекул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11094415" cy="6126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2194560" cy="347472"/>
          </a:xfrm>
          <a:prstGeom prst="roundRect">
            <a:avLst/>
          </a:prstGeom>
          <a:solidFill>
            <a:srgbClr val="FE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B08A50"/>
                </a:solidFill>
              </a:defRPr>
            </a:pPr>
            <a:r>
              <a:t>🏠 День після школи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D2C2A"/>
                </a:solidFill>
              </a:defRPr>
            </a:pPr>
            <a:r>
              <a:t>Розігріваю обід: суп закипає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5029200" cy="347472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F5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B86565"/>
                </a:solidFill>
              </a:defRPr>
            </a:pPr>
            <a:r>
              <a:t>⚡ Теплопередача, конвекція, кипіння, пароутворення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180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t>Я ставлю каструльку на плиту. Вогонь нагріває дно, рідина починає рухатись, а згодом у всій товщі зʼявляються бульбашки — суп закипів.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80944"/>
            <a:ext cx="101800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C3D3D"/>
                </a:solidFill>
              </a:defRPr>
            </a:pPr>
            <a:r>
              <a:t>🔬 Пояснення: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64992"/>
            <a:ext cx="10180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rPr dirty="0"/>
              <a:t>Спочатку </a:t>
            </a:r>
            <a:r>
              <a:rPr dirty="0" err="1"/>
              <a:t>тепло</a:t>
            </a:r>
            <a:r>
              <a:rPr dirty="0"/>
              <a:t> </a:t>
            </a:r>
            <a:r>
              <a:rPr dirty="0" err="1"/>
              <a:t>від</a:t>
            </a:r>
            <a:r>
              <a:rPr dirty="0"/>
              <a:t> </a:t>
            </a:r>
            <a:r>
              <a:rPr dirty="0" err="1"/>
              <a:t>полумʼя</a:t>
            </a:r>
            <a:r>
              <a:rPr dirty="0"/>
              <a:t> </a:t>
            </a:r>
            <a:r>
              <a:rPr dirty="0" err="1"/>
              <a:t>передається</a:t>
            </a:r>
            <a:r>
              <a:rPr dirty="0"/>
              <a:t> </a:t>
            </a:r>
            <a:r>
              <a:rPr dirty="0" err="1"/>
              <a:t>дну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теплопровідність</a:t>
            </a:r>
            <a:r>
              <a:rPr dirty="0"/>
              <a:t>. </a:t>
            </a:r>
            <a:r>
              <a:rPr dirty="0" err="1"/>
              <a:t>Нагріта</a:t>
            </a:r>
            <a:r>
              <a:rPr dirty="0"/>
              <a:t> </a:t>
            </a:r>
            <a:r>
              <a:rPr dirty="0" err="1"/>
              <a:t>рідина</a:t>
            </a:r>
            <a:r>
              <a:rPr dirty="0"/>
              <a:t> </a:t>
            </a:r>
            <a:r>
              <a:rPr dirty="0" err="1"/>
              <a:t>розширюється</a:t>
            </a:r>
            <a:r>
              <a:rPr dirty="0"/>
              <a:t>, </a:t>
            </a:r>
            <a:r>
              <a:rPr dirty="0" err="1"/>
              <a:t>її</a:t>
            </a:r>
            <a:r>
              <a:rPr dirty="0"/>
              <a:t> </a:t>
            </a:r>
            <a:r>
              <a:rPr dirty="0" err="1"/>
              <a:t>густина</a:t>
            </a:r>
            <a:r>
              <a:rPr dirty="0"/>
              <a:t> </a:t>
            </a:r>
            <a:r>
              <a:rPr dirty="0" err="1"/>
              <a:t>зменшується</a:t>
            </a:r>
            <a:r>
              <a:rPr dirty="0"/>
              <a:t>, </a:t>
            </a:r>
            <a:r>
              <a:rPr dirty="0" err="1"/>
              <a:t>вона</a:t>
            </a:r>
            <a:r>
              <a:rPr dirty="0"/>
              <a:t> </a:t>
            </a:r>
            <a:r>
              <a:rPr dirty="0" err="1"/>
              <a:t>підіймається</a:t>
            </a:r>
            <a:r>
              <a:rPr dirty="0"/>
              <a:t> — </a:t>
            </a:r>
            <a:r>
              <a:rPr dirty="0" err="1"/>
              <a:t>виникає</a:t>
            </a:r>
            <a:r>
              <a:rPr dirty="0"/>
              <a:t> </a:t>
            </a:r>
            <a:r>
              <a:rPr dirty="0" err="1"/>
              <a:t>природна</a:t>
            </a:r>
            <a:r>
              <a:rPr dirty="0"/>
              <a:t> </a:t>
            </a:r>
            <a:r>
              <a:rPr dirty="0" err="1"/>
              <a:t>конвекція</a:t>
            </a:r>
            <a:r>
              <a:rPr dirty="0"/>
              <a:t>. Холодніша </a:t>
            </a:r>
            <a:r>
              <a:rPr dirty="0" err="1"/>
              <a:t>рідина</a:t>
            </a:r>
            <a:r>
              <a:rPr dirty="0"/>
              <a:t> </a:t>
            </a:r>
            <a:r>
              <a:rPr dirty="0" err="1"/>
              <a:t>опускається</a:t>
            </a:r>
            <a:r>
              <a:rPr dirty="0"/>
              <a:t>, і </a:t>
            </a:r>
            <a:r>
              <a:rPr dirty="0" err="1"/>
              <a:t>так</a:t>
            </a:r>
            <a:r>
              <a:rPr dirty="0"/>
              <a:t> </a:t>
            </a:r>
            <a:r>
              <a:rPr dirty="0" err="1"/>
              <a:t>перемішується</a:t>
            </a:r>
            <a:r>
              <a:rPr dirty="0"/>
              <a:t> </a:t>
            </a:r>
            <a:r>
              <a:rPr dirty="0" err="1"/>
              <a:t>весь</a:t>
            </a:r>
            <a:r>
              <a:rPr dirty="0"/>
              <a:t> </a:t>
            </a:r>
            <a:r>
              <a:rPr dirty="0" err="1"/>
              <a:t>обʼєм</a:t>
            </a:r>
            <a:r>
              <a:rPr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94176"/>
            <a:ext cx="10180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rPr dirty="0"/>
              <a:t>Коли </a:t>
            </a:r>
            <a:r>
              <a:rPr dirty="0" err="1"/>
              <a:t>температура</a:t>
            </a:r>
            <a:r>
              <a:rPr dirty="0"/>
              <a:t> </a:t>
            </a:r>
            <a:r>
              <a:rPr dirty="0" err="1"/>
              <a:t>сягає</a:t>
            </a:r>
            <a:r>
              <a:rPr dirty="0"/>
              <a:t> ≈100 °C (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нормального</a:t>
            </a:r>
            <a:r>
              <a:rPr dirty="0"/>
              <a:t> </a:t>
            </a:r>
            <a:r>
              <a:rPr dirty="0" err="1"/>
              <a:t>атм</a:t>
            </a:r>
            <a:r>
              <a:rPr dirty="0"/>
              <a:t>. </a:t>
            </a:r>
            <a:r>
              <a:rPr dirty="0" err="1"/>
              <a:t>тиску</a:t>
            </a:r>
            <a:r>
              <a:rPr dirty="0"/>
              <a:t> 101325 </a:t>
            </a:r>
            <a:r>
              <a:rPr dirty="0" err="1"/>
              <a:t>Па</a:t>
            </a:r>
            <a:r>
              <a:rPr dirty="0"/>
              <a:t>), </a:t>
            </a:r>
            <a:r>
              <a:rPr dirty="0" err="1"/>
              <a:t>починається</a:t>
            </a:r>
            <a:r>
              <a:rPr dirty="0"/>
              <a:t> </a:t>
            </a:r>
            <a:r>
              <a:rPr dirty="0" err="1"/>
              <a:t>кипіння</a:t>
            </a:r>
            <a:r>
              <a:rPr dirty="0"/>
              <a:t> — </a:t>
            </a:r>
            <a:r>
              <a:rPr dirty="0" err="1"/>
              <a:t>пароутворення</a:t>
            </a:r>
            <a:r>
              <a:rPr dirty="0"/>
              <a:t> в </a:t>
            </a:r>
            <a:r>
              <a:rPr dirty="0" err="1"/>
              <a:t>усьому</a:t>
            </a:r>
            <a:r>
              <a:rPr dirty="0"/>
              <a:t> </a:t>
            </a:r>
            <a:r>
              <a:rPr dirty="0" err="1"/>
              <a:t>обʼємі</a:t>
            </a:r>
            <a:r>
              <a:rPr dirty="0"/>
              <a:t>.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мікронерівностях</a:t>
            </a:r>
            <a:r>
              <a:rPr dirty="0"/>
              <a:t> </a:t>
            </a:r>
            <a:r>
              <a:rPr dirty="0" err="1"/>
              <a:t>дна</a:t>
            </a:r>
            <a:r>
              <a:rPr dirty="0"/>
              <a:t> </a:t>
            </a:r>
            <a:r>
              <a:rPr dirty="0" err="1"/>
              <a:t>утворюються</a:t>
            </a:r>
            <a:r>
              <a:rPr dirty="0"/>
              <a:t> </a:t>
            </a:r>
            <a:r>
              <a:rPr dirty="0" err="1"/>
              <a:t>бульбашки</a:t>
            </a:r>
            <a:r>
              <a:rPr dirty="0"/>
              <a:t> </a:t>
            </a:r>
            <a:r>
              <a:rPr dirty="0" err="1"/>
              <a:t>насиченої</a:t>
            </a:r>
            <a:r>
              <a:rPr dirty="0"/>
              <a:t> </a:t>
            </a:r>
            <a:r>
              <a:rPr dirty="0" err="1"/>
              <a:t>пари</a:t>
            </a:r>
            <a:r>
              <a:rPr dirty="0"/>
              <a:t>. Тиск </a:t>
            </a:r>
            <a:r>
              <a:rPr dirty="0" err="1"/>
              <a:t>пари</a:t>
            </a:r>
            <a:r>
              <a:rPr dirty="0"/>
              <a:t> </a:t>
            </a:r>
            <a:r>
              <a:rPr dirty="0" err="1"/>
              <a:t>всередині</a:t>
            </a:r>
            <a:r>
              <a:rPr dirty="0"/>
              <a:t> </a:t>
            </a:r>
            <a:r>
              <a:rPr dirty="0" err="1"/>
              <a:t>має</a:t>
            </a:r>
            <a:r>
              <a:rPr dirty="0"/>
              <a:t> </a:t>
            </a:r>
            <a:r>
              <a:rPr dirty="0" err="1"/>
              <a:t>зрівноважити</a:t>
            </a:r>
            <a:r>
              <a:rPr dirty="0"/>
              <a:t> </a:t>
            </a:r>
            <a:r>
              <a:rPr dirty="0" err="1"/>
              <a:t>атмосферний</a:t>
            </a:r>
            <a:r>
              <a:rPr dirty="0"/>
              <a:t> + </a:t>
            </a:r>
            <a:r>
              <a:rPr dirty="0" err="1"/>
              <a:t>гідростатичний</a:t>
            </a:r>
            <a:r>
              <a:rPr dirty="0"/>
              <a:t> </a:t>
            </a:r>
            <a:r>
              <a:rPr dirty="0" err="1"/>
              <a:t>тиск</a:t>
            </a:r>
            <a:r>
              <a:rPr dirty="0"/>
              <a:t>. Бульбашки </a:t>
            </a:r>
            <a:r>
              <a:rPr dirty="0" err="1"/>
              <a:t>спливають</a:t>
            </a:r>
            <a:r>
              <a:rPr dirty="0"/>
              <a:t> і </a:t>
            </a:r>
            <a:r>
              <a:rPr dirty="0" err="1"/>
              <a:t>лопаються</a:t>
            </a:r>
            <a:r>
              <a:rPr dirty="0"/>
              <a:t>. Питома </a:t>
            </a:r>
            <a:r>
              <a:rPr dirty="0" err="1"/>
              <a:t>теплота</a:t>
            </a:r>
            <a:r>
              <a:rPr dirty="0"/>
              <a:t> </a:t>
            </a:r>
            <a:r>
              <a:rPr dirty="0" err="1"/>
              <a:t>пароутворення</a:t>
            </a:r>
            <a:r>
              <a:rPr dirty="0"/>
              <a:t> </a:t>
            </a:r>
            <a:r>
              <a:rPr dirty="0" err="1"/>
              <a:t>води</a:t>
            </a:r>
            <a:r>
              <a:rPr dirty="0"/>
              <a:t> — 2260 </a:t>
            </a:r>
            <a:r>
              <a:rPr dirty="0" err="1"/>
              <a:t>кДж</a:t>
            </a:r>
            <a:r>
              <a:rPr dirty="0"/>
              <a:t>/</a:t>
            </a:r>
            <a:r>
              <a:rPr dirty="0" err="1"/>
              <a:t>кг</a:t>
            </a:r>
            <a:r>
              <a:rPr dirty="0"/>
              <a:t>. Під </a:t>
            </a:r>
            <a:r>
              <a:rPr dirty="0" err="1"/>
              <a:t>час</a:t>
            </a:r>
            <a:r>
              <a:rPr dirty="0"/>
              <a:t> </a:t>
            </a:r>
            <a:r>
              <a:rPr dirty="0" err="1"/>
              <a:t>кипіння</a:t>
            </a:r>
            <a:r>
              <a:rPr dirty="0"/>
              <a:t> </a:t>
            </a:r>
            <a:r>
              <a:rPr dirty="0" err="1"/>
              <a:t>температура</a:t>
            </a:r>
            <a:r>
              <a:rPr dirty="0"/>
              <a:t> </a:t>
            </a:r>
            <a:r>
              <a:rPr dirty="0" err="1"/>
              <a:t>стала</a:t>
            </a:r>
            <a:r>
              <a:rPr dirty="0"/>
              <a:t> — </a:t>
            </a:r>
            <a:r>
              <a:rPr dirty="0" err="1"/>
              <a:t>уся</a:t>
            </a:r>
            <a:r>
              <a:rPr dirty="0"/>
              <a:t> </a:t>
            </a:r>
            <a:r>
              <a:rPr dirty="0" err="1"/>
              <a:t>енергія</a:t>
            </a:r>
            <a:r>
              <a:rPr dirty="0"/>
              <a:t> </a:t>
            </a:r>
            <a:r>
              <a:rPr dirty="0" err="1"/>
              <a:t>йде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розрив</a:t>
            </a:r>
            <a:r>
              <a:rPr dirty="0"/>
              <a:t> </a:t>
            </a:r>
            <a:r>
              <a:rPr dirty="0" err="1"/>
              <a:t>міжмолекулярних</a:t>
            </a:r>
            <a:r>
              <a:rPr dirty="0"/>
              <a:t> </a:t>
            </a:r>
            <a:r>
              <a:rPr dirty="0" err="1"/>
              <a:t>звʼязків</a:t>
            </a:r>
            <a:r>
              <a:rPr dirty="0"/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24528"/>
            <a:ext cx="10180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rPr dirty="0"/>
              <a:t>🏔️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високогірʼї</a:t>
            </a:r>
            <a:r>
              <a:rPr dirty="0"/>
              <a:t> </a:t>
            </a:r>
            <a:r>
              <a:rPr dirty="0" err="1"/>
              <a:t>атмосферний</a:t>
            </a:r>
            <a:r>
              <a:rPr dirty="0"/>
              <a:t> </a:t>
            </a:r>
            <a:r>
              <a:rPr dirty="0" err="1"/>
              <a:t>тиск</a:t>
            </a:r>
            <a:r>
              <a:rPr dirty="0"/>
              <a:t> </a:t>
            </a:r>
            <a:r>
              <a:rPr dirty="0" err="1"/>
              <a:t>нижчий</a:t>
            </a:r>
            <a:r>
              <a:rPr dirty="0"/>
              <a:t> → </a:t>
            </a:r>
            <a:r>
              <a:rPr dirty="0" err="1"/>
              <a:t>температура</a:t>
            </a:r>
            <a:r>
              <a:rPr dirty="0"/>
              <a:t> </a:t>
            </a:r>
            <a:r>
              <a:rPr dirty="0" err="1"/>
              <a:t>кипіння</a:t>
            </a:r>
            <a:r>
              <a:rPr dirty="0"/>
              <a:t> </a:t>
            </a:r>
            <a:r>
              <a:rPr dirty="0" err="1"/>
              <a:t>знижується</a:t>
            </a:r>
            <a:r>
              <a:rPr dirty="0"/>
              <a:t> → </a:t>
            </a:r>
            <a:r>
              <a:rPr dirty="0" err="1"/>
              <a:t>приготування</a:t>
            </a:r>
            <a:r>
              <a:rPr dirty="0"/>
              <a:t> </a:t>
            </a:r>
            <a:r>
              <a:rPr dirty="0" err="1"/>
              <a:t>їжі</a:t>
            </a:r>
            <a:r>
              <a:rPr dirty="0"/>
              <a:t> </a:t>
            </a:r>
            <a:r>
              <a:rPr dirty="0" err="1"/>
              <a:t>займає</a:t>
            </a:r>
            <a:r>
              <a:rPr dirty="0"/>
              <a:t> </a:t>
            </a:r>
            <a:r>
              <a:rPr dirty="0" err="1"/>
              <a:t>більше</a:t>
            </a:r>
            <a:r>
              <a:rPr dirty="0"/>
              <a:t> </a:t>
            </a:r>
            <a:r>
              <a:rPr dirty="0" err="1"/>
              <a:t>часу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11094415" cy="6126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2194560" cy="347472"/>
          </a:xfrm>
          <a:prstGeom prst="round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7B5E9C"/>
                </a:solidFill>
              </a:defRPr>
            </a:pPr>
            <a:r>
              <a:t>🌙 Вечір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D2C2A"/>
                </a:solidFill>
              </a:defRPr>
            </a:pPr>
            <a:r>
              <a:t>Ноутбук, домашнє завдання і гарячий корпус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5029200" cy="347472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F5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B86565"/>
                </a:solidFill>
              </a:defRPr>
            </a:pPr>
            <a:r>
              <a:t>⚡ Зміна внутрішньої енергії, закон Джоуля — Ленца, вимушена конвекція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180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t>Я сідаю за уроки, вмикаю ноутбук. Через пів години гуде кулер, а корпус знизу став гарячим — навіть крізь джинси відчутно.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80944"/>
            <a:ext cx="101800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C3D3D"/>
                </a:solidFill>
              </a:defRPr>
            </a:pPr>
            <a:r>
              <a:t>🔬 Пояснення: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64992"/>
            <a:ext cx="10180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t>Усередині ноутбука — мільйони транзисторів. Під час їхнього перемикання через мікросхеми тече струм. Закон Джоуля — Ленца: Q = I²Rt. Електрична енергія перетворюється на внутрішню, температура процесора зростає (може сягати 100 °C!).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39" y="4318254"/>
            <a:ext cx="10180015" cy="384048"/>
          </a:xfrm>
          <a:prstGeom prst="roundRect">
            <a:avLst/>
          </a:prstGeom>
          <a:solidFill>
            <a:srgbClr val="FDF6F0"/>
          </a:solidFill>
          <a:ln w="25400">
            <a:solidFill>
              <a:srgbClr val="D4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7A4A4A"/>
                </a:solidFill>
                <a:latin typeface="Consolas"/>
              </a:defRPr>
            </a:pPr>
            <a:r>
              <a:rPr dirty="0"/>
              <a:t>Q = I²Rt  |  Потужність </a:t>
            </a:r>
            <a:r>
              <a:rPr dirty="0" err="1"/>
              <a:t>процесора</a:t>
            </a:r>
            <a:r>
              <a:rPr dirty="0"/>
              <a:t>: 15–45 </a:t>
            </a:r>
            <a:r>
              <a:rPr dirty="0" err="1"/>
              <a:t>Вт</a:t>
            </a:r>
            <a:r>
              <a:rPr dirty="0"/>
              <a:t>  |  </a:t>
            </a:r>
            <a:r>
              <a:rPr dirty="0" err="1"/>
              <a:t>Закон</a:t>
            </a:r>
            <a:r>
              <a:rPr dirty="0"/>
              <a:t> </a:t>
            </a:r>
            <a:r>
              <a:rPr dirty="0" err="1"/>
              <a:t>Ньютона</a:t>
            </a:r>
            <a:r>
              <a:rPr dirty="0"/>
              <a:t> — </a:t>
            </a:r>
            <a:r>
              <a:rPr dirty="0" err="1"/>
              <a:t>Ріхмана</a:t>
            </a:r>
            <a:r>
              <a:rPr dirty="0"/>
              <a:t>: Q = </a:t>
            </a:r>
            <a:r>
              <a:rPr dirty="0" err="1"/>
              <a:t>h·A</a:t>
            </a:r>
            <a:r>
              <a:rPr dirty="0"/>
              <a:t>·(</a:t>
            </a:r>
            <a:r>
              <a:rPr dirty="0" err="1"/>
              <a:t>T_proc</a:t>
            </a:r>
            <a:r>
              <a:rPr dirty="0"/>
              <a:t> – </a:t>
            </a:r>
            <a:r>
              <a:rPr dirty="0" err="1"/>
              <a:t>T_air</a:t>
            </a:r>
            <a:r>
              <a:rPr dirty="0"/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99332"/>
            <a:ext cx="10180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rPr dirty="0"/>
              <a:t>Система </a:t>
            </a:r>
            <a:r>
              <a:rPr dirty="0" err="1"/>
              <a:t>охолодження</a:t>
            </a:r>
            <a:r>
              <a:rPr dirty="0"/>
              <a:t>: </a:t>
            </a:r>
            <a:r>
              <a:rPr dirty="0" err="1"/>
              <a:t>теплові</a:t>
            </a:r>
            <a:r>
              <a:rPr dirty="0"/>
              <a:t> </a:t>
            </a:r>
            <a:r>
              <a:rPr dirty="0" err="1"/>
              <a:t>трубки</a:t>
            </a:r>
            <a:r>
              <a:rPr dirty="0"/>
              <a:t> (</a:t>
            </a:r>
            <a:r>
              <a:rPr dirty="0" err="1"/>
              <a:t>рідина</a:t>
            </a:r>
            <a:r>
              <a:rPr dirty="0"/>
              <a:t> </a:t>
            </a:r>
            <a:r>
              <a:rPr dirty="0" err="1"/>
              <a:t>випаровується</a:t>
            </a:r>
            <a:r>
              <a:rPr dirty="0"/>
              <a:t> </a:t>
            </a:r>
            <a:r>
              <a:rPr dirty="0" err="1"/>
              <a:t>біля</a:t>
            </a:r>
            <a:r>
              <a:rPr dirty="0"/>
              <a:t> </a:t>
            </a:r>
            <a:r>
              <a:rPr dirty="0" err="1"/>
              <a:t>процесора</a:t>
            </a:r>
            <a:r>
              <a:rPr dirty="0"/>
              <a:t> й </a:t>
            </a:r>
            <a:r>
              <a:rPr dirty="0" err="1"/>
              <a:t>конденсується</a:t>
            </a:r>
            <a:r>
              <a:rPr dirty="0"/>
              <a:t> </a:t>
            </a:r>
            <a:r>
              <a:rPr dirty="0" err="1"/>
              <a:t>біля</a:t>
            </a:r>
            <a:r>
              <a:rPr dirty="0"/>
              <a:t> </a:t>
            </a:r>
            <a:r>
              <a:rPr dirty="0" err="1"/>
              <a:t>радіатора</a:t>
            </a:r>
            <a:r>
              <a:rPr dirty="0"/>
              <a:t>) + </a:t>
            </a:r>
            <a:r>
              <a:rPr dirty="0" err="1"/>
              <a:t>вентилятор</a:t>
            </a:r>
            <a:r>
              <a:rPr dirty="0"/>
              <a:t> (</a:t>
            </a:r>
            <a:r>
              <a:rPr dirty="0" err="1"/>
              <a:t>вимушена</a:t>
            </a:r>
            <a:r>
              <a:rPr dirty="0"/>
              <a:t> </a:t>
            </a:r>
            <a:r>
              <a:rPr dirty="0" err="1"/>
              <a:t>конвекція</a:t>
            </a:r>
            <a:r>
              <a:rPr dirty="0"/>
              <a:t>). Частина </a:t>
            </a:r>
            <a:r>
              <a:rPr dirty="0" err="1"/>
              <a:t>тепла</a:t>
            </a:r>
            <a:r>
              <a:rPr dirty="0"/>
              <a:t>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одно</a:t>
            </a:r>
            <a:r>
              <a:rPr dirty="0"/>
              <a:t> </a:t>
            </a:r>
            <a:r>
              <a:rPr dirty="0" err="1"/>
              <a:t>передається</a:t>
            </a:r>
            <a:r>
              <a:rPr dirty="0"/>
              <a:t> </a:t>
            </a:r>
            <a:r>
              <a:rPr dirty="0" err="1"/>
              <a:t>корпусу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теплопровідність</a:t>
            </a:r>
            <a:r>
              <a:rPr dirty="0"/>
              <a:t>. Якщо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впорається</a:t>
            </a:r>
            <a:r>
              <a:rPr dirty="0"/>
              <a:t> — </a:t>
            </a:r>
            <a:r>
              <a:rPr dirty="0" err="1"/>
              <a:t>спрацює</a:t>
            </a:r>
            <a:r>
              <a:rPr dirty="0"/>
              <a:t> </a:t>
            </a:r>
            <a:r>
              <a:rPr dirty="0" err="1"/>
              <a:t>тротлінг</a:t>
            </a:r>
            <a:r>
              <a:rPr dirty="0"/>
              <a:t> </a:t>
            </a:r>
            <a:r>
              <a:rPr dirty="0" err="1"/>
              <a:t>або</a:t>
            </a:r>
            <a:r>
              <a:rPr dirty="0"/>
              <a:t> </a:t>
            </a:r>
            <a:r>
              <a:rPr dirty="0" err="1"/>
              <a:t>ноутбук</a:t>
            </a:r>
            <a:r>
              <a:rPr dirty="0"/>
              <a:t> </a:t>
            </a:r>
            <a:r>
              <a:rPr dirty="0" err="1"/>
              <a:t>вимкнеться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11094415" cy="6126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2194560" cy="347472"/>
          </a:xfrm>
          <a:prstGeom prst="round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7B5E9C"/>
                </a:solidFill>
              </a:defRPr>
            </a:pPr>
            <a:r>
              <a:t>🌙 Вечір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D2C2A"/>
                </a:solidFill>
              </a:defRPr>
            </a:pPr>
            <a:r>
              <a:t>Горнятко чаю та три шляхи тепловтрат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5029200" cy="347472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F5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B86565"/>
                </a:solidFill>
              </a:defRPr>
            </a:pPr>
            <a:r>
              <a:t>⚡ Теплопровідність, конвекція, теплове випромінювання, теплова рівновага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180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t>Я вмостилася з горнятком гарячого чаю. Він поступово холоне — працюють одразу три механізми теплопередачі.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80944"/>
            <a:ext cx="101800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C3D3D"/>
                </a:solidFill>
              </a:defRPr>
            </a:pPr>
            <a:r>
              <a:t>🔬 Три механізми в одному горнятку: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64992"/>
            <a:ext cx="10180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t>1. Теплопровідність — тепло від чаю передається через стінки керамічного горнятка (k ≈ 1–2 Вт/(м·К)). Моя долоня гріється саме через теплопровідність.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94176"/>
            <a:ext cx="10180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t>2. Конвекція — повітря біля гарячого горнятка нагрівається, розширюється, стає менш густим і підіймається вгору, забираючи тепло.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10180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t>3. Теплове випромінювання — горнятко випромінює інфрачервоні хвилі. Закон Стефана — Больцмана: P = εσAT⁴. Для кераміки ε ≈ 0,9. При T ≈ 350 K і A ≈ 0,03 м² потужність випромінювання ≈ 20 Вт — суттєвий канал тепловтрат!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39" y="4766056"/>
            <a:ext cx="10180015" cy="384048"/>
          </a:xfrm>
          <a:prstGeom prst="roundRect">
            <a:avLst/>
          </a:prstGeom>
          <a:solidFill>
            <a:srgbClr val="FDF6F0"/>
          </a:solidFill>
          <a:ln w="25400">
            <a:solidFill>
              <a:srgbClr val="D4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7A4A4A"/>
                </a:solidFill>
                <a:latin typeface="Consolas"/>
              </a:defRPr>
            </a:pPr>
            <a:r>
              <a:rPr dirty="0"/>
              <a:t>P = </a:t>
            </a:r>
            <a:r>
              <a:rPr dirty="0" err="1"/>
              <a:t>εσAT</a:t>
            </a:r>
            <a:r>
              <a:rPr dirty="0"/>
              <a:t>⁴  |  σ = 5,67×10⁻⁸ </a:t>
            </a:r>
            <a:r>
              <a:rPr dirty="0" err="1"/>
              <a:t>Вт</a:t>
            </a:r>
            <a:r>
              <a:rPr dirty="0"/>
              <a:t>/(м²·К⁴)  |  ε (</a:t>
            </a:r>
            <a:r>
              <a:rPr dirty="0" err="1"/>
              <a:t>кераміка</a:t>
            </a:r>
            <a:r>
              <a:rPr dirty="0"/>
              <a:t>) ≈ 0,9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90720"/>
            <a:ext cx="10180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rPr dirty="0"/>
              <a:t>Чай </a:t>
            </a:r>
            <a:r>
              <a:rPr dirty="0" err="1"/>
              <a:t>холоне</a:t>
            </a:r>
            <a:r>
              <a:rPr dirty="0"/>
              <a:t>, </a:t>
            </a:r>
            <a:r>
              <a:rPr dirty="0" err="1"/>
              <a:t>внутрішня</a:t>
            </a:r>
            <a:r>
              <a:rPr dirty="0"/>
              <a:t> </a:t>
            </a:r>
            <a:r>
              <a:rPr dirty="0" err="1"/>
              <a:t>енергія</a:t>
            </a:r>
            <a:r>
              <a:rPr dirty="0"/>
              <a:t> </a:t>
            </a:r>
            <a:r>
              <a:rPr dirty="0" err="1"/>
              <a:t>зменшується</a:t>
            </a:r>
            <a:r>
              <a:rPr dirty="0"/>
              <a:t>. Коли </a:t>
            </a:r>
            <a:r>
              <a:rPr dirty="0" err="1"/>
              <a:t>температури</a:t>
            </a:r>
            <a:r>
              <a:rPr dirty="0"/>
              <a:t> </a:t>
            </a:r>
            <a:r>
              <a:rPr dirty="0" err="1"/>
              <a:t>зрівняються</a:t>
            </a:r>
            <a:r>
              <a:rPr dirty="0"/>
              <a:t> — </a:t>
            </a:r>
            <a:r>
              <a:rPr dirty="0" err="1"/>
              <a:t>настане</a:t>
            </a:r>
            <a:r>
              <a:rPr dirty="0"/>
              <a:t> </a:t>
            </a:r>
            <a:r>
              <a:rPr dirty="0" err="1"/>
              <a:t>теплова</a:t>
            </a:r>
            <a:r>
              <a:rPr dirty="0"/>
              <a:t> </a:t>
            </a:r>
            <a:r>
              <a:rPr dirty="0" err="1"/>
              <a:t>рівновага</a:t>
            </a:r>
            <a:r>
              <a:rPr dirty="0"/>
              <a:t> (</a:t>
            </a:r>
            <a:r>
              <a:rPr dirty="0" err="1"/>
              <a:t>другий</a:t>
            </a:r>
            <a:r>
              <a:rPr dirty="0"/>
              <a:t> </a:t>
            </a:r>
            <a:r>
              <a:rPr dirty="0" err="1"/>
              <a:t>закон</a:t>
            </a:r>
            <a:r>
              <a:rPr dirty="0"/>
              <a:t> </a:t>
            </a:r>
            <a:r>
              <a:rPr dirty="0" err="1"/>
              <a:t>термодинаміки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11094415" cy="6126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2194560" cy="347472"/>
          </a:xfrm>
          <a:prstGeom prst="round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C77D7D"/>
                </a:solidFill>
              </a:defRPr>
            </a:pPr>
            <a:r>
              <a:t>📋 Підсумки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D2C2A"/>
                </a:solidFill>
              </a:defRPr>
            </a:pPr>
            <a:r>
              <a:t>Висновки: мій фізичний день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180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t>• Дифузія — запах кави та парфумів, закон Фіка, градієнт концентрації.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42032"/>
            <a:ext cx="10180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t>• Випаровування — парфуми та піт; Q = Lm, адіабатичне охолодження шкіри.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98064"/>
            <a:ext cx="10180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t>• Теплопровідність — ложка в чаї, праска; закон Фур'є, вільні електрони металів.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54096"/>
            <a:ext cx="10180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t>• Фазові переходи — прасування: рідина → пара → рідина, цикл із поглинанням і виділенням теплоти.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10128"/>
            <a:ext cx="10180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t>• Броунівський рух — пил у промені; ⟨x²⟩ = 2Dt, доказ існування молекул.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10180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t>• Конвекція — суп у каструлі, охолодження ноутбука; природна й вимушена.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22192"/>
            <a:ext cx="10180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t>• Кипіння — бульбашки пари; тиск насиченої пари = зовнішній тиск, T = const.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78224"/>
            <a:ext cx="10180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t>• Закон Джоуля — Ленца — ноутбук; Q = I²Rt, електроенергія → внутрішня енергія.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34256"/>
            <a:ext cx="10180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t>• Теплове випромінювання — горнятко; P = εσAT⁴, інфрачервоні хвилі.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90288"/>
            <a:ext cx="10180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3535"/>
                </a:solidFill>
              </a:defRPr>
            </a:pPr>
            <a:r>
              <a:t>• Теплова рівновага — другий закон термодинаміки; тепло мимовільно переходить від гарячого до холодного.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983480"/>
            <a:ext cx="10180015" cy="1097280"/>
          </a:xfrm>
          <a:prstGeom prst="roundRect">
            <a:avLst/>
          </a:prstGeom>
          <a:solidFill>
            <a:srgbClr val="FDF6F0"/>
          </a:solidFill>
          <a:ln w="25400">
            <a:solidFill>
              <a:srgbClr val="D4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i="1">
                <a:solidFill>
                  <a:srgbClr val="5C3D3D"/>
                </a:solidFill>
              </a:defRPr>
            </a:pPr>
            <a:r>
              <a:t>💭 Мій особистий підсумок: Раніше я думала, що фізика — це формули на дошці та задачі в підручнику. Тепер я знаю: молекулярна фізика і термодинаміка — це справжня мова мого звичайного дня. Запах кави, прохолода від парфумів, тепло ноутбука, праска, чайна ложка, навіть пил у сонячному світлі — усе це розповідає історію про рух молекул, енергію та фазові переходи. Я більше ніколи не подивлюся на звичайний ранок так, як раніше. І це робить кожен мій день трішечки чарівним — чарівним і науковим водночас.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1883</Words>
  <Application>Microsoft Office PowerPoint</Application>
  <PresentationFormat>Widescreen</PresentationFormat>
  <Paragraphs>94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roagoa057@gmail.com</cp:lastModifiedBy>
  <cp:revision>3</cp:revision>
  <dcterms:created xsi:type="dcterms:W3CDTF">2013-01-27T09:14:16Z</dcterms:created>
  <dcterms:modified xsi:type="dcterms:W3CDTF">2026-05-06T15:04:21Z</dcterms:modified>
  <cp:category/>
</cp:coreProperties>
</file>